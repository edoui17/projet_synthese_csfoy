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42" r:id="rId5"/>
    <p:sldId id="359" r:id="rId6"/>
    <p:sldId id="373" r:id="rId7"/>
    <p:sldId id="374" r:id="rId8"/>
    <p:sldId id="375" r:id="rId9"/>
    <p:sldId id="383" r:id="rId10"/>
    <p:sldId id="382" r:id="rId11"/>
    <p:sldId id="384" r:id="rId12"/>
    <p:sldId id="385" r:id="rId13"/>
    <p:sldId id="365" r:id="rId14"/>
    <p:sldId id="376" r:id="rId15"/>
    <p:sldId id="386" r:id="rId16"/>
    <p:sldId id="387" r:id="rId17"/>
    <p:sldId id="388" r:id="rId18"/>
    <p:sldId id="377" r:id="rId19"/>
    <p:sldId id="378" r:id="rId20"/>
    <p:sldId id="379" r:id="rId21"/>
    <p:sldId id="380" r:id="rId22"/>
    <p:sldId id="381" r:id="rId23"/>
    <p:sldId id="372" r:id="rId24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68" d="100"/>
          <a:sy n="68" d="100"/>
        </p:scale>
        <p:origin x="77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F384DC7D-6AEA-4694-83C0-81E5019B1120}" type="datetime1">
              <a:rPr lang="fr-FR" smtClean="0"/>
              <a:t>09/04/2026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9E9D61A1-75D9-49F7-83EB-F5872642613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325E0694-821B-4FB6-88D9-E5E64C7A1630}" type="datetime1">
              <a:rPr lang="fr-FR" smtClean="0"/>
              <a:t>09/04/2026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EF75CB5-5666-5049-9AE0-38EFD385C21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fld id="{DEF75CB5-5666-5049-9AE0-38EFD385C21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fr-FR"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3A5E0-A546-C0F0-5930-BBABE5D1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06D0995-E378-2B2F-525F-203E13753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252C596-2C54-E4CD-29F7-552CC9D05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752B74-ABDA-B99D-AEF4-8E9E658F3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6852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60FD-E73E-8A22-E760-95EAFABF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304B3DC-77E3-2AE3-A116-8028E5186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3483AB6-5179-D809-EAA2-873B96F99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C01FFF-AE03-6492-13D0-28102551E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3849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DFC5-0C88-0B51-B7EB-C0BAD177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0855492-6D76-0411-D89C-D05E73777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CD55B29-E9A3-A996-BBAF-6024D162F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0213AC-2135-4923-A64F-78640D277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8212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34FA-FBE1-22BE-3DD5-423EB950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90C82F5-18E9-FE2F-8A10-32754C405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A6DD91E-2233-8B64-EE48-F84ED8384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C60AB8-0993-8D01-FF83-20DB6DB95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0225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fld id="{DEF75CB5-5666-5049-9AE0-38EFD385C21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fr-FR"/>
              </a:pPr>
              <a:t>10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4E30-A9D2-68B2-DB1F-AD75EC0D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B7CA5EB-C142-4E65-26EE-4D3CF2185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0DE19D0-116F-193F-CA62-7D0851613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FF380B-9659-20CD-26CD-9D81864D1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7655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2C4-3FF5-C824-B7E0-90EEB1E0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20C577D-3DD9-DABE-0A0A-2041A56DE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4AFE8EE-D30A-BBFE-CE85-AE934E2D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601365-6E98-13EC-0AE6-15012635B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244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B038E-5465-3943-ABFC-CCDEC940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AF9B64E-CBC5-8965-868B-FE994A791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E84EBDE-634D-EA6D-2AD8-8A7761C4A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B0EAB3-26AD-2266-0B31-562786A6C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238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6" name="Espace réservé du contenu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e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9" name="Graphique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fr-FR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CA"/>
              <a:t>Modifier le style du titre</a:t>
            </a:r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fr-FR" sz="32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fr-FR" sz="24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fr-FR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CA"/>
              <a:t>Cliquez sur l'icône pour ajouter une image</a:t>
            </a:r>
            <a:endParaRPr lang="fr-FR"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et 2 colonne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 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que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sme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7" name="Graphique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fr-FR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CA"/>
              <a:t>Modifier le style du titre</a:t>
            </a:r>
            <a:endParaRPr lang="fr-FR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6" name="Image 5" descr="Une spirale bleue et violette&#10;&#10;Description générée automatiquement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que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2" name="Graphique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que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0" name="Graphique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21" name="Espace réservé du contenu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que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Graphique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Graphique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CA"/>
              <a:t>Cliquez sur l'icône pour ajouter une image</a:t>
            </a:r>
            <a:endParaRPr lang="fr-FR"/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2" name="Espace réservé au tableau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CA"/>
              <a:t>Cliquez sur l'icône pour ajouter un tableau</a:t>
            </a:r>
            <a:endParaRPr lang="fr-FR"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au tableau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CA"/>
              <a:t>Cliquez sur l'icône pour ajouter un tableau</a:t>
            </a:r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e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8" name="Graphique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pic>
          <p:nvPicPr>
            <p:cNvPr id="4" name="Espace réservé du contenu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fr-FR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fr-FR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fr-FR"/>
            </a:defPPr>
          </a:lstStyle>
          <a:p>
            <a:r>
              <a:rPr lang="fr-CA" dirty="0"/>
              <a:t>Projet synthèse en contexte TI diversifié – 420-W57-SF</a:t>
            </a:r>
            <a:endParaRPr lang="fr-FR" dirty="0"/>
          </a:p>
        </p:txBody>
      </p:sp>
      <p:sp>
        <p:nvSpPr>
          <p:cNvPr id="9" name="Sous-titr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CA" dirty="0"/>
              <a:t>La revue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E1A9F5E-8343-827D-946B-96A670FF889D}"/>
              </a:ext>
            </a:extLst>
          </p:cNvPr>
          <p:cNvSpPr txBox="1"/>
          <p:nvPr/>
        </p:nvSpPr>
        <p:spPr>
          <a:xfrm>
            <a:off x="158044" y="112889"/>
            <a:ext cx="1603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chemeClr val="accent3"/>
                </a:solidFill>
                <a:latin typeface="+mj-lt"/>
              </a:rPr>
              <a:t>14</a:t>
            </a:r>
            <a:r>
              <a:rPr lang="en-CA" dirty="0">
                <a:solidFill>
                  <a:schemeClr val="accent3"/>
                </a:solidFill>
                <a:latin typeface="+mj-lt"/>
              </a:rPr>
              <a:t>/04/2026</a:t>
            </a:r>
            <a:endParaRPr lang="fr-CA" dirty="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rtlCol="0" anchor="t"/>
          <a:lstStyle>
            <a:defPPr>
              <a:defRPr lang="fr-FR"/>
            </a:defPPr>
          </a:lstStyle>
          <a:p>
            <a:pPr rtl="0"/>
            <a:r>
              <a:rPr lang="fr-FR" dirty="0"/>
              <a:t>Introduction au projet</a:t>
            </a:r>
          </a:p>
          <a:p>
            <a:pPr rtl="0"/>
            <a:r>
              <a:rPr lang="fr-FR" dirty="0"/>
              <a:t>L</a:t>
            </a:r>
            <a:r>
              <a:rPr lang="fr-CA" dirty="0"/>
              <a:t>’objectif de l’itération</a:t>
            </a:r>
            <a:endParaRPr lang="fr-FR" dirty="0"/>
          </a:p>
          <a:p>
            <a:pPr rtl="0"/>
            <a:r>
              <a:rPr lang="fr-FR" dirty="0"/>
              <a:t>Présentation du produit</a:t>
            </a:r>
          </a:p>
          <a:p>
            <a:pPr rtl="0"/>
            <a:r>
              <a:rPr lang="fr-FR" dirty="0"/>
              <a:t>Les accomplissements (US)</a:t>
            </a:r>
          </a:p>
          <a:p>
            <a:pPr rtl="0"/>
            <a:r>
              <a:rPr lang="fr-FR" dirty="0"/>
              <a:t>Questions</a:t>
            </a:r>
            <a:r>
              <a:rPr lang="en-US" dirty="0"/>
              <a:t>/R</a:t>
            </a:r>
            <a:r>
              <a:rPr lang="fr-CA" dirty="0" err="1"/>
              <a:t>éponses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Notre jeu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Island Survivor!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A97BF6B-9A3C-4A4B-910C-8D4B1740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9" y="334718"/>
            <a:ext cx="2438400" cy="24384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D681404-DE6E-7C3B-C94C-88EFFD2A0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431730" y="406931"/>
            <a:ext cx="2438400" cy="2438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42F7D94-5248-BF72-8F88-A2300BC8C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9" y="4084882"/>
            <a:ext cx="2438400" cy="24384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51B6F6B-FDAC-B434-0312-25ED4FA5C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431730" y="4145577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3200" dirty="0"/>
              <a:t>Notre objectif 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2400" dirty="0"/>
              <a:t>Créer un jeu</a:t>
            </a:r>
          </a:p>
          <a:p>
            <a:pPr rtl="0"/>
            <a:r>
              <a:rPr lang="fr-FR" sz="2400" dirty="0"/>
              <a:t>Plaisant</a:t>
            </a:r>
          </a:p>
          <a:p>
            <a:pPr rtl="0"/>
            <a:r>
              <a:rPr lang="fr-FR" sz="2400" dirty="0"/>
              <a:t>Agréable</a:t>
            </a:r>
          </a:p>
          <a:p>
            <a:pPr rtl="0"/>
            <a:r>
              <a:rPr lang="fr-FR" sz="2400" dirty="0"/>
              <a:t>Réconfortant</a:t>
            </a:r>
          </a:p>
          <a:p>
            <a:pPr rtl="0"/>
            <a:r>
              <a:rPr lang="fr-FR" sz="2400" dirty="0"/>
              <a:t>La perfection</a:t>
            </a:r>
          </a:p>
        </p:txBody>
      </p:sp>
      <p:pic>
        <p:nvPicPr>
          <p:cNvPr id="8" name="Espace réservé d’image 7" descr="Des spirales bleues et violette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La création des </a:t>
            </a:r>
            <a:r>
              <a:rPr lang="fr-FR" dirty="0" err="1"/>
              <a:t>maps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Écrit par Édouard.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0DD5C-D9E4-0B82-3E03-08C367B1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B00E30-7FE8-3B4E-313A-B8682353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La création des ressources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923FE0-02A0-7B7C-D8B3-FC74740319D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Plusieurs types de ressources.</a:t>
            </a:r>
          </a:p>
          <a:p>
            <a:pPr rtl="0"/>
            <a:r>
              <a:rPr lang="fr-FR" dirty="0"/>
              <a:t>Roches, Or.</a:t>
            </a:r>
          </a:p>
          <a:p>
            <a:r>
              <a:rPr lang="fr-FR" dirty="0"/>
              <a:t>Arbres, bois</a:t>
            </a:r>
          </a:p>
          <a:p>
            <a:r>
              <a:rPr lang="fr-FR" dirty="0"/>
              <a:t>Mouton, viandes.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68CF1CF-2244-E12D-22BF-BB689D3A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6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FFA3FA-0914-7CB2-3B7C-4B7E8B38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873" y="3972143"/>
            <a:ext cx="4876800" cy="12192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30056A5-F57C-4669-8A07-6769BAC20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873" y="2874579"/>
            <a:ext cx="609600" cy="6096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F3C04F4-DF0E-8E29-D5D8-B2798CF2A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528" y="2874579"/>
            <a:ext cx="775660" cy="775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40B4B59-5607-36FD-2C0D-869B07223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704" y="3210143"/>
            <a:ext cx="609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4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1729-4238-6040-D49C-923ECF57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F302A-9165-2BD5-6662-FEFA58E4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La création du personnage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C1DE24-3938-B335-C039-5E9F3197FA1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À faire par Charles ou </a:t>
            </a:r>
            <a:r>
              <a:rPr lang="fr-FR" dirty="0" err="1"/>
              <a:t>Kev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74B3933-C58B-B0D8-CD3B-B43FCFB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978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6E9C6-F724-6CD7-5C91-9606D9F3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D0018-596C-F81E-8566-175A65CE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La création du UI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CC715A-C5FD-7D1F-6EDA-4C3CB285B5E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À faire par Delphine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21043D8-8B6F-D015-85F7-F5C1843A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9444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DDE7-C281-9EFC-47E0-892C74CF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14CD9-D5E0-1536-1DEC-1DB261ED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La création des managers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8B99C9-E1CF-EB5B-A25A-25522C2C3750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À faire par </a:t>
            </a:r>
            <a:r>
              <a:rPr lang="fr-FR" dirty="0" err="1"/>
              <a:t>Kev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C44D875-3E53-1FA6-B946-65043A96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471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977" y="264161"/>
            <a:ext cx="5982756" cy="1519484"/>
          </a:xfrm>
        </p:spPr>
        <p:txBody>
          <a:bodyPr rtlCol="0" anchor="b"/>
          <a:lstStyle>
            <a:defPPr>
              <a:defRPr lang="fr-FR"/>
            </a:defPPr>
          </a:lstStyle>
          <a:p>
            <a:pPr rtl="0"/>
            <a:r>
              <a:rPr lang="fr-FR" dirty="0"/>
              <a:t>Les accomplissements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7C0BCF0-1B03-BF18-6D84-974E3F73E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88"/>
            <a:ext cx="6537433" cy="438211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D1F9A04-8392-503E-D1E7-7FFF90797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433" y="2475888"/>
            <a:ext cx="5654567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Nos user stories - Delphine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1"/>
            <a:ext cx="4439691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/>
            <a:r>
              <a:rPr lang="fr-FR" dirty="0"/>
              <a:t>Implémenter l’affichage ATH du jour (</a:t>
            </a:r>
            <a:r>
              <a:rPr lang="fr-CA" b="1" dirty="0"/>
              <a:t>Affichage Tête Haute)</a:t>
            </a:r>
          </a:p>
          <a:p>
            <a:pPr lvl="1"/>
            <a:r>
              <a:rPr lang="fr-CA" b="1" dirty="0"/>
              <a:t>Barre de vie</a:t>
            </a:r>
          </a:p>
          <a:p>
            <a:pPr lvl="1"/>
            <a:r>
              <a:rPr lang="fr-CA" b="1" dirty="0"/>
              <a:t>Barre inventaire</a:t>
            </a:r>
          </a:p>
          <a:p>
            <a:pPr marL="0" lvl="1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 rtl="0"/>
            <a:r>
              <a:rPr lang="fr-FR" dirty="0"/>
              <a:t>Implémenter l’affichage des menus</a:t>
            </a:r>
          </a:p>
          <a:p>
            <a:pPr lvl="1" rtl="0"/>
            <a:r>
              <a:rPr lang="fr-FR" dirty="0"/>
              <a:t>Afficher le menu principal</a:t>
            </a:r>
          </a:p>
          <a:p>
            <a:pPr lvl="1" rtl="0"/>
            <a:r>
              <a:rPr lang="fr-FR" dirty="0"/>
              <a:t>Afficher menu options</a:t>
            </a:r>
          </a:p>
          <a:p>
            <a:pPr lvl="1" rtl="0"/>
            <a:r>
              <a:rPr lang="fr-FR" dirty="0"/>
              <a:t>Afficher menu des scores</a:t>
            </a:r>
          </a:p>
          <a:p>
            <a:pPr marL="0" lvl="1" indent="0" rtl="0">
              <a:buNone/>
            </a:pPr>
            <a:endParaRPr lang="fr-FR" dirty="0"/>
          </a:p>
          <a:p>
            <a:pPr lvl="1"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398F-9460-3FE3-A4DA-12B4A7FB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67DAAD-B8BE-3D3A-F81C-7B783967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Nos user stories – </a:t>
            </a:r>
            <a:r>
              <a:rPr lang="fr-FR"/>
              <a:t>Charles-Philippes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F00FEE-B6C6-B831-4E79-F6B46E46583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1"/>
            <a:ext cx="4439691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/>
            <a:r>
              <a:rPr lang="fr-FR" dirty="0"/>
              <a:t>Implémenter l’affichage ATH du jour (</a:t>
            </a:r>
            <a:r>
              <a:rPr lang="fr-CA" b="1" dirty="0"/>
              <a:t>Affichage Tête Haute)</a:t>
            </a:r>
          </a:p>
          <a:p>
            <a:pPr lvl="1"/>
            <a:r>
              <a:rPr lang="fr-CA" b="1" dirty="0"/>
              <a:t>Barre de vie</a:t>
            </a:r>
          </a:p>
          <a:p>
            <a:pPr lvl="1"/>
            <a:r>
              <a:rPr lang="fr-CA" b="1" dirty="0"/>
              <a:t>Barre inventaire</a:t>
            </a:r>
          </a:p>
          <a:p>
            <a:pPr marL="0" lvl="1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3AA73B-60CE-691C-C879-17B930915E6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 rtl="0"/>
            <a:r>
              <a:rPr lang="fr-FR" dirty="0"/>
              <a:t>Implémenter l’affichage des menus</a:t>
            </a:r>
          </a:p>
          <a:p>
            <a:pPr lvl="1" rtl="0"/>
            <a:r>
              <a:rPr lang="fr-FR" dirty="0"/>
              <a:t>Afficher le menu principal</a:t>
            </a:r>
          </a:p>
          <a:p>
            <a:pPr lvl="1" rtl="0"/>
            <a:r>
              <a:rPr lang="fr-FR" dirty="0"/>
              <a:t>Afficher menu options</a:t>
            </a:r>
          </a:p>
          <a:p>
            <a:pPr lvl="1" rtl="0"/>
            <a:r>
              <a:rPr lang="fr-FR" dirty="0"/>
              <a:t>Afficher menu des scores</a:t>
            </a:r>
          </a:p>
          <a:p>
            <a:pPr marL="0" lvl="1" indent="0" rtl="0">
              <a:buNone/>
            </a:pPr>
            <a:endParaRPr lang="fr-FR" dirty="0"/>
          </a:p>
          <a:p>
            <a:pPr lvl="1"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A8FE42-0DF0-EE28-A936-3936F713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9902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B7FD-0BFA-37A6-DD0B-C568D0C8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CAD764-E5F7-79C9-2608-0B4CF7C6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Nos user stories - Delphine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91A65-8712-3E5D-B07E-1C71659D58A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1"/>
            <a:ext cx="4439691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/>
            <a:r>
              <a:rPr lang="fr-FR" dirty="0"/>
              <a:t>Implémenter l’affichage ATH du jour (</a:t>
            </a:r>
            <a:r>
              <a:rPr lang="fr-CA" b="1" dirty="0"/>
              <a:t>Affichage Tête Haute)</a:t>
            </a:r>
          </a:p>
          <a:p>
            <a:pPr lvl="1"/>
            <a:r>
              <a:rPr lang="fr-CA" b="1" dirty="0"/>
              <a:t>Barre de vie</a:t>
            </a:r>
          </a:p>
          <a:p>
            <a:pPr lvl="1"/>
            <a:r>
              <a:rPr lang="fr-CA" b="1" dirty="0"/>
              <a:t>Barre inventaire</a:t>
            </a:r>
          </a:p>
          <a:p>
            <a:pPr marL="0" lvl="1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429379-8A51-2906-8EE3-93D4D9B2ED8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 rtl="0"/>
            <a:r>
              <a:rPr lang="fr-FR" dirty="0"/>
              <a:t>Implémenter l’affichage des menus</a:t>
            </a:r>
          </a:p>
          <a:p>
            <a:pPr lvl="1" rtl="0"/>
            <a:r>
              <a:rPr lang="fr-FR" dirty="0"/>
              <a:t>Afficher le menu principal</a:t>
            </a:r>
          </a:p>
          <a:p>
            <a:pPr lvl="1" rtl="0"/>
            <a:r>
              <a:rPr lang="fr-FR" dirty="0"/>
              <a:t>Afficher menu options</a:t>
            </a:r>
          </a:p>
          <a:p>
            <a:pPr lvl="1" rtl="0"/>
            <a:r>
              <a:rPr lang="fr-FR" dirty="0"/>
              <a:t>Afficher menu des scores</a:t>
            </a:r>
          </a:p>
          <a:p>
            <a:pPr marL="0" lvl="1" indent="0" rtl="0">
              <a:buNone/>
            </a:pPr>
            <a:endParaRPr lang="fr-FR" dirty="0"/>
          </a:p>
          <a:p>
            <a:pPr lvl="1"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3474D-5F05-1899-5AEE-8B28A2AC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003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B13B-2842-1EED-582E-2802EBCB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4C293-E935-629A-C4F8-E57E2087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Nos user stories - Delphine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32300C-255B-66D5-523D-5C74A003615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1"/>
            <a:ext cx="4439691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/>
            <a:r>
              <a:rPr lang="fr-FR" dirty="0"/>
              <a:t>Implémenter l’affichage ATH du jour (</a:t>
            </a:r>
            <a:r>
              <a:rPr lang="fr-CA" b="1" dirty="0"/>
              <a:t>Affichage Tête Haute)</a:t>
            </a:r>
          </a:p>
          <a:p>
            <a:pPr lvl="1"/>
            <a:r>
              <a:rPr lang="fr-CA" b="1" dirty="0"/>
              <a:t>Barre de vie</a:t>
            </a:r>
          </a:p>
          <a:p>
            <a:pPr lvl="1"/>
            <a:r>
              <a:rPr lang="fr-CA" b="1" dirty="0"/>
              <a:t>Barre inventaire</a:t>
            </a:r>
          </a:p>
          <a:p>
            <a:pPr marL="0" lvl="1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DBFB26-2239-6F03-5ECD-3570786CD2FC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defPPr>
              <a:defRPr lang="fr-FR"/>
            </a:defPPr>
          </a:lstStyle>
          <a:p>
            <a:pPr lvl="1" rtl="0"/>
            <a:r>
              <a:rPr lang="fr-FR" dirty="0"/>
              <a:t>Implémenter l’affichage des menus</a:t>
            </a:r>
          </a:p>
          <a:p>
            <a:pPr lvl="1" rtl="0"/>
            <a:r>
              <a:rPr lang="fr-FR" dirty="0"/>
              <a:t>Afficher le menu principal</a:t>
            </a:r>
          </a:p>
          <a:p>
            <a:pPr lvl="1" rtl="0"/>
            <a:r>
              <a:rPr lang="fr-FR" dirty="0"/>
              <a:t>Afficher menu options</a:t>
            </a:r>
          </a:p>
          <a:p>
            <a:pPr lvl="1" rtl="0"/>
            <a:r>
              <a:rPr lang="fr-FR" dirty="0"/>
              <a:t>Afficher menu des scores</a:t>
            </a:r>
          </a:p>
          <a:p>
            <a:pPr marL="0" lvl="1" indent="0" rtl="0">
              <a:buNone/>
            </a:pPr>
            <a:endParaRPr lang="fr-FR" dirty="0"/>
          </a:p>
          <a:p>
            <a:pPr lvl="1"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C4580F-1EFE-9426-5D80-9711CD98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5272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NAVIGATION DANS LES SESSIONS QUESTIONS ET RÉPONSES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Connaissez votre support à l’avance</a:t>
            </a:r>
          </a:p>
          <a:p>
            <a:pPr rtl="0"/>
            <a:r>
              <a:rPr lang="fr-FR" dirty="0"/>
              <a:t>Anticiper les questions courantes</a:t>
            </a:r>
          </a:p>
          <a:p>
            <a:pPr rtl="0"/>
            <a:r>
              <a:rPr lang="fr-FR" dirty="0"/>
              <a:t>Répétez vos réponses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Il est essentiel de garder son calme pendant la séance de Q&amp;R pour projeter une image de confiance et d'autorité. Considérez les conseils suivants pour rester calme :</a:t>
            </a:r>
          </a:p>
          <a:p>
            <a:pPr lvl="1" rtl="0"/>
            <a:r>
              <a:rPr lang="fr-FR" dirty="0"/>
              <a:t>Restez calme</a:t>
            </a:r>
          </a:p>
          <a:p>
            <a:pPr lvl="1" rtl="0"/>
            <a:r>
              <a:rPr lang="fr-FR" dirty="0"/>
              <a:t>Écouter activement</a:t>
            </a:r>
          </a:p>
          <a:p>
            <a:pPr lvl="1" rtl="0"/>
            <a:r>
              <a:rPr lang="fr-FR" dirty="0"/>
              <a:t>Faites une pause et réfléchissez</a:t>
            </a:r>
          </a:p>
          <a:p>
            <a:pPr lvl="1" rtl="0"/>
            <a:r>
              <a:rPr lang="fr-FR" dirty="0"/>
              <a:t>Maintenir un contact visuel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 noProof="0" dirty="0"/>
              <a:t>IMPACT DE L’ÉLOCUTION</a:t>
            </a:r>
          </a:p>
        </p:txBody>
      </p:sp>
      <p:pic>
        <p:nvPicPr>
          <p:cNvPr id="6" name="Espace réservé d’image 5" descr="Une spirale bleue et violette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52662" cy="302220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1700" dirty="0"/>
              <a:t>Votre capacité à communiquer efficacement aura un impact durable sur votre public</a:t>
            </a:r>
          </a:p>
          <a:p>
            <a:pPr rtl="0"/>
            <a:r>
              <a:rPr lang="fr-FR" sz="1700" dirty="0"/>
              <a:t>Communiquer efficacement implique non seulement de transmettre un message, mais également d'être en résonance avec les expériences, les valeurs et les émotions de ceux qui écoutent. 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 noProof="0" dirty="0"/>
              <a:t>DISCOURS DYNAMIQUE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7" y="3078480"/>
            <a:ext cx="3006384" cy="304799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Apprenez à insuffler une énergie dans votre discours pour laisser une impression durable</a:t>
            </a:r>
          </a:p>
          <a:p>
            <a:pPr rtl="0"/>
            <a:r>
              <a:rPr lang="fr-FR" dirty="0"/>
              <a:t>L’un des objectifs d’une communication efficace est de motiver votre public</a:t>
            </a:r>
          </a:p>
        </p:txBody>
      </p:sp>
      <p:graphicFrame>
        <p:nvGraphicFramePr>
          <p:cNvPr id="5" name="Espace réservé du tableau 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21963508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INDICATEUR</a:t>
                      </a:r>
                      <a:endParaRPr lang="fr-FR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MESURE</a:t>
                      </a:r>
                      <a:endParaRPr lang="fr-FR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OBJECTIF</a:t>
                      </a:r>
                      <a:endParaRPr lang="fr-FR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RÉEL</a:t>
                      </a:r>
                      <a:endParaRPr lang="fr-FR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Participation de l’audience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Nombre de participants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Durée de l’engagement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Interactions de Q&amp;A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Nombre de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Commentaires positifs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Pourcentage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Taux de rétention des informations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Pourcentage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lang="fr-FR"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 rtl="0"/>
                      <a:r>
                        <a:rPr lang="fr-FR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Derniers conseils et points à retenir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1700" dirty="0"/>
              <a:t>Répétition cohérente</a:t>
            </a:r>
          </a:p>
          <a:p>
            <a:pPr lvl="1" rtl="0"/>
            <a:r>
              <a:rPr lang="fr-FR" sz="1700" dirty="0"/>
              <a:t>Renforcez votre connaissance</a:t>
            </a:r>
          </a:p>
          <a:p>
            <a:pPr rtl="0"/>
            <a:r>
              <a:rPr lang="fr-FR" sz="1700" dirty="0"/>
              <a:t>Affiner le style de discours</a:t>
            </a:r>
          </a:p>
          <a:p>
            <a:pPr lvl="1" rtl="0"/>
            <a:r>
              <a:rPr lang="fr-FR" sz="1700" dirty="0"/>
              <a:t>Rythme, ton et accentuation</a:t>
            </a:r>
          </a:p>
          <a:p>
            <a:pPr rtl="0"/>
            <a:r>
              <a:rPr lang="fr-FR" sz="1700" dirty="0"/>
              <a:t>Minutage et transitions</a:t>
            </a:r>
          </a:p>
          <a:p>
            <a:pPr lvl="1" rtl="0"/>
            <a:r>
              <a:rPr lang="fr-FR" sz="1700" dirty="0"/>
              <a:t>Rechercher un discours professionnel et fluide</a:t>
            </a:r>
          </a:p>
          <a:p>
            <a:pPr rtl="0"/>
            <a:r>
              <a:rPr lang="fr-FR" sz="1700" dirty="0"/>
              <a:t>Entraînez-vous à parler en public</a:t>
            </a:r>
          </a:p>
          <a:p>
            <a:pPr lvl="1" rtl="0"/>
            <a:r>
              <a:rPr lang="fr-FR" sz="1700" dirty="0"/>
              <a:t>Demandez à vos collègues d’écouter et de fournir des commentaires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296910" y="2465388"/>
            <a:ext cx="3123565" cy="376081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1700" dirty="0"/>
              <a:t>Recueillir des commentaires</a:t>
            </a:r>
          </a:p>
          <a:p>
            <a:pPr rtl="0"/>
            <a:r>
              <a:rPr lang="fr-FR" sz="1700" dirty="0"/>
              <a:t>Examiner les performances</a:t>
            </a:r>
          </a:p>
          <a:p>
            <a:pPr rtl="0"/>
            <a:r>
              <a:rPr lang="fr-FR" sz="1700" dirty="0"/>
              <a:t>Explorez de nouvelles techniques</a:t>
            </a:r>
          </a:p>
          <a:p>
            <a:pPr rtl="0"/>
            <a:r>
              <a:rPr lang="fr-FR" sz="1700" dirty="0"/>
              <a:t>Définissez des objectifs personnels</a:t>
            </a:r>
          </a:p>
          <a:p>
            <a:pPr rtl="0"/>
            <a:r>
              <a:rPr lang="fr-FR" sz="1700" dirty="0"/>
              <a:t>Itérer et adapter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MESURES D’ENGAGEMENT DU DISCOURS</a:t>
            </a:r>
          </a:p>
        </p:txBody>
      </p:sp>
      <p:graphicFrame>
        <p:nvGraphicFramePr>
          <p:cNvPr id="5" name="Espace réservé du tableau 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633107030"/>
              </p:ext>
            </p:extLst>
          </p:nvPr>
        </p:nvGraphicFramePr>
        <p:xfrm>
          <a:off x="835025" y="2560638"/>
          <a:ext cx="10515601" cy="353771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1615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FACTEUR D’IMPACT</a:t>
                      </a:r>
                      <a:endParaRPr lang="fr-FR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MESURE</a:t>
                      </a:r>
                      <a:endParaRPr lang="fr-FR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OBJECTIF</a:t>
                      </a:r>
                      <a:endParaRPr lang="fr-FR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ATTEINT</a:t>
                      </a:r>
                      <a:endParaRPr lang="fr-FR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Interaction de l’audience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Pourcentage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Rétention de connaissances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Pourcentage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Enquêtes postérieures à la présentation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Note moyenne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4,2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4,5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Taux de référence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Pourcentage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Opportunités de collaboration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Nombre d’opportunités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r>
                        <a:rPr lang="fr-FR" noProof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Mirjam</a:t>
            </a:r>
            <a:r>
              <a:rPr lang="fr-FR" dirty="0"/>
              <a:t> Nilsson​</a:t>
            </a:r>
          </a:p>
          <a:p>
            <a:pPr rtl="0"/>
            <a:r>
              <a:rPr lang="fr-FR" dirty="0"/>
              <a:t>206-555-0146</a:t>
            </a:r>
          </a:p>
          <a:p>
            <a:pPr rtl="0"/>
            <a:r>
              <a:rPr lang="fr-FR" dirty="0"/>
              <a:t>sacha@contoso.com</a:t>
            </a:r>
          </a:p>
          <a:p>
            <a:pPr rtl="0"/>
            <a:r>
              <a:rPr lang="fr-FR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0_TF11936837_Win32" id="{70EA47D8-BF97-41C7-A938-8129D3ABCA78}" vid="{1BCC3B6B-BAF1-48BD-9EED-6CD6B5C31A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résultats scientifiques</Template>
  <TotalTime>65</TotalTime>
  <Words>577</Words>
  <Application>Microsoft Office PowerPoint</Application>
  <PresentationFormat>Grand écran</PresentationFormat>
  <Paragraphs>181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Arial Nova</vt:lpstr>
      <vt:lpstr>Biome</vt:lpstr>
      <vt:lpstr>Calibri</vt:lpstr>
      <vt:lpstr>Personnalisé</vt:lpstr>
      <vt:lpstr>Projet synthèse en contexte TI diversifié – 420-W57-SF</vt:lpstr>
      <vt:lpstr>Programme</vt:lpstr>
      <vt:lpstr>Notre jeu</vt:lpstr>
      <vt:lpstr>Notre objectif </vt:lpstr>
      <vt:lpstr>La création des maps</vt:lpstr>
      <vt:lpstr>La création des ressources</vt:lpstr>
      <vt:lpstr>La création du personnage</vt:lpstr>
      <vt:lpstr>La création du UI</vt:lpstr>
      <vt:lpstr>La création des managers</vt:lpstr>
      <vt:lpstr>Les accomplissements</vt:lpstr>
      <vt:lpstr>Nos user stories - Delphine</vt:lpstr>
      <vt:lpstr>Nos user stories – Charles-Philippes</vt:lpstr>
      <vt:lpstr>Nos user stories - Delphine</vt:lpstr>
      <vt:lpstr>Nos user stories - Delphine</vt:lpstr>
      <vt:lpstr>NAVIGATION DANS LES SESSIONS QUESTIONS ET RÉPONSES</vt:lpstr>
      <vt:lpstr>IMPACT DE L’ÉLOCUTION</vt:lpstr>
      <vt:lpstr>DISCOURS DYNAMIQUE</vt:lpstr>
      <vt:lpstr>Derniers conseils et points à retenir</vt:lpstr>
      <vt:lpstr>MESURES D’ENGAGEMENT DU DISCOURS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Masson</dc:creator>
  <cp:lastModifiedBy>Antoine Masson</cp:lastModifiedBy>
  <cp:revision>2</cp:revision>
  <dcterms:created xsi:type="dcterms:W3CDTF">2026-04-09T13:18:43Z</dcterms:created>
  <dcterms:modified xsi:type="dcterms:W3CDTF">2026-04-09T14:24:03Z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